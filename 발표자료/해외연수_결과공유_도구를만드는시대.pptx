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5EDABA6-422B-9891-C236-8F1F6D74CDAD}">
          <p14:sldIdLst>
            <p14:sldId id="256"/>
          </p14:sldIdLst>
        </p14:section>
        <p14:section name="트러스트뱅크 방문" id="{72B8D5C6-0D66-B03D-0668-02AB627BFA82}">
          <p14:sldIdLst>
            <p14:sldId id="257"/>
            <p14:sldId id="258"/>
            <p14:sldId id="259"/>
          </p14:sldIdLst>
        </p14:section>
        <p14:section name="도구를 만들어 쓰는 시대" id="{DB71BB61-161E-F6A1-22F4-B4C34134DAE6}">
          <p14:sldIdLst>
            <p14:sldId id="260"/>
            <p14:sldId id="261"/>
            <p14:sldId id="262"/>
            <p14:sldId id="263"/>
          </p14:sldIdLst>
        </p14:section>
        <p14:section name="마무리" id="{533B421C-A36D-BE71-A70D-AD8419FECEB6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364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[0:00–0:10] 안녕하세요, 공간복지팀 주찬희입니다. 일본 연수에서 방문한 트러스트뱅크 이야기로 시작해서, 연수를 위해 직접 만든 앱, 그리고 지금 만들고 있는 업무 도구까지 5분 동안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[0:10–0:50] 9월 16일, 요코하마의 회의실에서 트러스트뱅크와 Zoom으로 만났습니다. 트러스트뱅크는 일본 최대 고향납세 플랫폼 '후루사토 초이스'를 운영하는 회사입니다. 일본 지자체의 95%, 1,700곳 이상이 이 플랫폼을 씁니다.
핵심은 창업 배경입니다. 총무성 출신 오이 준 대표는, 지자체와 기부자가 각자 따로 만나는 '점과 점'으로는 제도가 클 수 없다고 봤고, 모두가 한곳에서 만나는 '장', 즉 플랫폼을 직접 만들었습니다.
※ 회의에서 실제로 들은 답변(법인 기부, 수익 구조, NGO 협력 등) 중 인상 깊었던 한 가지를 여기 한 문장 덧붙이세요.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[0:50–1:30] 한국은 이제 4년차, 일본은 19년차입니다. 작년 실적이 한국 1,515억 원, 일본은 1조 3,314억 엔입니다.
차이를 만든 것 중 하나가 마지막 줄입니다. 한국은 정부 플랫폼 중심인데, 일본은 40여 개 민간 플랫폼이 서로 경쟁하면서 기부자가 쓰기 편한 도구를 계속 만들어 왔습니다.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[1:30–2:00] 트러스트뱅크를 보며 든 생각은 이겁니다. 제도를 키운 건 법 조항만이 아니라, 현장의 불편을 정확히 알고 그걸 푸는 도구를 직접 만든 사람이었습니다.
그렇다면 우리 일의 불편은 누가 풀어야 할까요? 저는 연수를 준비하면서 작은 답을 하나 만들어 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[2:00–2:20] 연수를 준비하니 자료가 이렇게 흩어져 있었습니다. 계획서, 기관별 자료 9개, 핸드북, 지도 링크, 단체방 공지, 비상 연락처. 11명이 버스 안에서, 기관 앞에서 이걸 다 찾아볼 수는 없습니다. 그래서 링크 하나로 모았습니다.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[2:20–3:00] (영상이 자동으로 재생됩니다) 이름을 넣고 들어가면, 오늘 날짜의 일정이 바로 뜹니다. 지금 화면은 9월 16일, 트러스트뱅크 회의 시간입니다 — '지금 진행 중', 남은 시간, 다음 일정이 한눈에 보입니다. 옆으로 밀면 다음 날로 넘어가고, '기관 정보 보기'를 누르면 기관 브리핑이 올라옵니다.
설치는 없습니다. 링크 하나를 홈 화면에 추가하면 끝이고, 제가 일정을 고치면 11명 화면에 바로 바뀝니다. 이 앱은 AI와 대화하면서 제가 직접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[3:00–3:30] 화면은 네 가지입니다. 오늘 일정, 기관 브리핑, 메모, 비상 연락처. 기준은 하나였습니다 — 버스 안에서, 기관 앞에서 폰을 꺼냈을 때 3초 안에 답이 나오는가.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[3:30–4:00] 현장에서 실제로 가장 많이 쓴 건 '지금 진행 중' 카드였습니다. 다들 시간표처럼, 다음에 어디 가는지를 확인하는 데 썼습니다.
반면 메모는 급할 때만 쓰거나, 사실상 저 혼자 썼습니다. 만들면서 기대했던 기능 중에서도 익숙하지 않은 건 생각보다 잘 쓰이지 않았습니다.
결국 사람들이 쓴 건 이미 익숙한 모양, 시간표였습니다.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[4:30–5:00] 정리하겠습니다. 이제는 불편을 가장 잘 아는 사람이 직접 도구를 만들 수 있는 시대입니다. 다만 현장에서 배운 건, 쓰이는 도구는 익숙한 모양이라는 것, 그리고 세상은 바뀔 수 있지만 그렇게 쉽게 바뀌지는 않는다는 것입니다.
그러니 새 도구나 AI를 보면서 FOMO를 느끼지 않아도 괜찮습니다. 일본 고향납세도 19년에 걸쳐 자랐습니다. 서두르지 말고, 내 일의 불편 하나부터 작게 만들어 보면 됩니다.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240280"/>
            <a:ext cx="676656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5000"/>
              </a:lnSpc>
              <a:buNone/>
              <a:defRPr lang="ko-KR" alt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 eaLnBrk="0">
              <a:lnSpc>
                <a:spcPct val="105000"/>
              </a:lnSpc>
              <a:buNone/>
            </a:pPr>
            <a:endParaRPr lang="ko-KR" alt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ko-KR" altLang="en-US" sz="1300" b="1" dirty="0">
                <a:solidFill>
                  <a:schemeClr val="accent1"/>
                </a:solidFill>
              </a:defRPr>
            </a:lvl1pPr>
          </a:lstStyle>
          <a:p>
            <a:pPr marL="0" indent="0" eaLnBrk="0">
              <a:buNone/>
            </a:pPr>
            <a:endParaRPr lang="ko-KR" alt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 eaLnBrk="0">
              <a:buNone/>
            </a:pPr>
            <a:endParaRPr lang="ko-KR" alt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000" dirty="0">
                <a:solidFill>
                  <a:schemeClr val="accent5"/>
                </a:solidFill>
              </a:rPr>
              <a:t>2026 따뜻한동행 일본 해외연수 · 결과 공유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SPLI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754880" y="566928"/>
            <a:ext cx="68580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ko-KR" altLang="en-US" sz="1300" b="1" dirty="0">
                <a:solidFill>
                  <a:schemeClr val="accent1"/>
                </a:solidFill>
              </a:defRPr>
            </a:lvl1pPr>
          </a:lstStyle>
          <a:p>
            <a:pPr marL="0" indent="0" eaLnBrk="0">
              <a:buNone/>
            </a:pPr>
            <a:endParaRPr lang="ko-KR" alt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754880" y="896112"/>
            <a:ext cx="6858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 eaLnBrk="0">
              <a:buNone/>
            </a:pPr>
            <a:endParaRPr lang="ko-KR" alt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000" dirty="0">
                <a:solidFill>
                  <a:schemeClr val="accent5"/>
                </a:solidFill>
              </a:rPr>
              <a:t>2026 따뜻한동행 일본 해외연수 · 결과 공유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ko-KR" altLang="en-US" sz="1300" b="1" dirty="0">
                <a:solidFill>
                  <a:schemeClr val="accent3"/>
                </a:solidFill>
              </a:defRPr>
            </a:lvl1pPr>
          </a:lstStyle>
          <a:p>
            <a:pPr marL="0" indent="0" eaLnBrk="0">
              <a:buNone/>
            </a:pPr>
            <a:endParaRPr lang="ko-KR" alt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 eaLnBrk="0">
              <a:buNone/>
            </a:pPr>
            <a:endParaRPr lang="ko-KR" alt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2026 따뜻한동행 일본 해외연수 · 결과 공유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로고 배경"/>
          <p:cNvSpPr/>
          <p:nvPr/>
        </p:nvSpPr>
        <p:spPr>
          <a:xfrm>
            <a:off x="640080" y="566928"/>
            <a:ext cx="1828800" cy="6766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pic>
        <p:nvPicPr>
          <p:cNvPr id="3" name="따뜻한동행 로고" descr="따뜻한동행 로고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630936"/>
            <a:ext cx="117346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7830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600" b="1" dirty="0">
                <a:solidFill>
                  <a:schemeClr val="accent3"/>
                </a:solidFill>
              </a:rPr>
              <a:t>2026 따뜻한동행 일본 해외연수 · 결과 공유</a:t>
            </a:r>
            <a:endParaRPr lang="ko-KR" altLang="en-US" sz="16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240280"/>
            <a:ext cx="676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lnSpc>
                <a:spcPct val="105000"/>
              </a:lnSpc>
              <a:buNone/>
            </a:pPr>
            <a:r>
              <a:rPr lang="ko-KR" altLang="en-US" sz="4600" b="1" dirty="0">
                <a:solidFill>
                  <a:schemeClr val="bg1"/>
                </a:solidFill>
              </a:rPr>
              <a:t>도구를 찾는 시대에서,</a:t>
            </a:r>
            <a:endParaRPr lang="ko-KR" altLang="en-US" sz="4600" dirty="0"/>
          </a:p>
          <a:p>
            <a:pPr marL="0" indent="0" algn="l" eaLnBrk="0">
              <a:lnSpc>
                <a:spcPct val="105000"/>
              </a:lnSpc>
              <a:buNone/>
            </a:pPr>
            <a:r>
              <a:rPr lang="ko-KR" altLang="en-US" sz="4600" b="1" dirty="0">
                <a:solidFill>
                  <a:schemeClr val="bg1"/>
                </a:solidFill>
              </a:rPr>
              <a:t>만들어 쓰는 시대로</a:t>
            </a:r>
            <a:endParaRPr lang="ko-KR" alt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343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2000" dirty="0">
                <a:solidFill>
                  <a:schemeClr val="accent6"/>
                </a:solidFill>
              </a:rPr>
              <a:t>트러스트뱅크 방문  ·  연수 앱</a:t>
            </a:r>
            <a:endParaRPr lang="ko-KR" alt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8978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400" dirty="0">
                <a:solidFill>
                  <a:schemeClr val="accent6"/>
                </a:solidFill>
              </a:rPr>
              <a:t>공간복지팀 주찬희  |  2026. 10.</a:t>
            </a:r>
            <a:endParaRPr lang="ko-KR" altLang="en-US" sz="1400" dirty="0"/>
          </a:p>
        </p:txBody>
      </p:sp>
      <p:pic>
        <p:nvPicPr>
          <p:cNvPr id="8" name="표지 폰 뒤" descr="연수 앱 화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20000">
            <a:off x="9189720" y="658368"/>
            <a:ext cx="2446958" cy="5394960"/>
          </a:xfrm>
          <a:prstGeom prst="rect">
            <a:avLst/>
          </a:prstGeom>
        </p:spPr>
      </p:pic>
      <p:pic>
        <p:nvPicPr>
          <p:cNvPr id="9" name="표지 폰 앞" descr="연수 앱 화면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360000">
            <a:off x="7726680" y="841248"/>
            <a:ext cx="2529906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01  트러스트뱅크 방문  ·  2026. 9. 16.(수)</a:t>
            </a:r>
            <a:endParaRPr lang="ko-KR" alt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일본 고향납세를 키운 ‘장(場)’ — 후루사토 초이스</a:t>
            </a:r>
            <a:endParaRPr lang="ko-KR" altLang="en-US" sz="3200" dirty="0"/>
          </a:p>
        </p:txBody>
      </p:sp>
      <p:sp>
        <p:nvSpPr>
          <p:cNvPr id="4" name="기관 소개 카드"/>
          <p:cNvSpPr/>
          <p:nvPr/>
        </p:nvSpPr>
        <p:spPr>
          <a:xfrm>
            <a:off x="548640" y="1691640"/>
            <a:ext cx="5989320" cy="4434840"/>
          </a:xfrm>
          <a:prstGeom prst="roundRect">
            <a:avLst>
              <a:gd name="adj" fmla="val 2887"/>
            </a:avLst>
          </a:prstGeom>
          <a:solidFill>
            <a:schemeClr val="bg2"/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9385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요코하마 TKP 회의실에서 Zoom 화상회의로 진행</a:t>
            </a:r>
            <a:endParaRPr lang="ko-KR" alt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eaLnBrk="0">
              <a:lnSpc>
                <a:spcPct val="120000"/>
              </a:lnSpc>
              <a:spcAft>
                <a:spcPts val="2000"/>
              </a:spcAft>
              <a:buSzPct val="100000"/>
              <a:buChar char="•"/>
            </a:pPr>
            <a:r>
              <a:rPr lang="ko-KR" altLang="en-US" sz="1700" dirty="0">
                <a:solidFill>
                  <a:schemeClr val="tx1"/>
                </a:solidFill>
              </a:rPr>
              <a:t>2012년 설립 — 일본 최대 고향납세 종합 플랫폼 ‘후루사토 초이스’ 운영</a:t>
            </a:r>
            <a:endParaRPr lang="ko-KR" altLang="en-US" sz="1700" dirty="0"/>
          </a:p>
          <a:p>
            <a:pPr marL="342900" indent="-342900" eaLnBrk="0">
              <a:lnSpc>
                <a:spcPct val="120000"/>
              </a:lnSpc>
              <a:spcAft>
                <a:spcPts val="2000"/>
              </a:spcAft>
              <a:buSzPct val="100000"/>
              <a:buChar char="•"/>
            </a:pPr>
            <a:r>
              <a:rPr lang="ko-KR" altLang="en-US" sz="1700" dirty="0">
                <a:solidFill>
                  <a:schemeClr val="tx1"/>
                </a:solidFill>
              </a:rPr>
              <a:t>총무성 출신 오이 준 대표가 창업. 지자체와 기부자가 따로따로 만나는 ‘점과 점’으로는 제도가 크지 못한다고 보고, 모두가 만나는 ‘장(플랫폼)’을 만듦</a:t>
            </a:r>
            <a:endParaRPr lang="ko-KR" altLang="en-US" sz="1700" dirty="0"/>
          </a:p>
          <a:p>
            <a:pPr marL="342900" indent="-342900" eaLnBrk="0">
              <a:lnSpc>
                <a:spcPct val="120000"/>
              </a:lnSpc>
              <a:spcAft>
                <a:spcPts val="2000"/>
              </a:spcAft>
              <a:buSzPct val="100000"/>
              <a:buChar char="•"/>
            </a:pPr>
            <a:r>
              <a:rPr lang="ko-KR" altLang="en-US" sz="1700" dirty="0">
                <a:solidFill>
                  <a:schemeClr val="tx1"/>
                </a:solidFill>
              </a:rPr>
              <a:t>2018년 상장사 (주)체인지의 자회사로 편입 → 거버먼트 크라우드펀딩, 지자체 DX 지원, 지역화폐까지 확장</a:t>
            </a:r>
            <a:endParaRPr lang="ko-KR" altLang="en-US" sz="1700" dirty="0"/>
          </a:p>
        </p:txBody>
      </p:sp>
      <p:sp>
        <p:nvSpPr>
          <p:cNvPr id="7" name="수치 카드 1"/>
          <p:cNvSpPr/>
          <p:nvPr/>
        </p:nvSpPr>
        <p:spPr>
          <a:xfrm>
            <a:off x="6903720" y="1691640"/>
            <a:ext cx="4709160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B2D">
                <a:alpha val="10000"/>
              </a:srgbClr>
            </a:outerShdw>
          </a:effectLst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223760" y="18745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3600" b="1" dirty="0">
                <a:solidFill>
                  <a:schemeClr val="accent1"/>
                </a:solidFill>
              </a:rPr>
              <a:t>1,700곳+</a:t>
            </a:r>
            <a:endParaRPr lang="ko-KR" alt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4963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chemeClr val="accent5"/>
                </a:solidFill>
              </a:rPr>
              <a:t>이용 지자체 — 일본 전국의 약 95%</a:t>
            </a:r>
            <a:endParaRPr lang="ko-KR" altLang="en-US" sz="1500" dirty="0"/>
          </a:p>
        </p:txBody>
      </p:sp>
      <p:sp>
        <p:nvSpPr>
          <p:cNvPr id="10" name="수치 카드 2"/>
          <p:cNvSpPr/>
          <p:nvPr/>
        </p:nvSpPr>
        <p:spPr>
          <a:xfrm>
            <a:off x="6903720" y="3200400"/>
            <a:ext cx="4709160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B2D">
                <a:alpha val="10000"/>
              </a:srgbClr>
            </a:outerShdw>
          </a:effectLst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223760" y="33832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3600" b="1" dirty="0">
                <a:solidFill>
                  <a:schemeClr val="accent1"/>
                </a:solidFill>
              </a:rPr>
              <a:t>5,000건+</a:t>
            </a:r>
            <a:endParaRPr lang="ko-KR" alt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4005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chemeClr val="accent5"/>
                </a:solidFill>
              </a:rPr>
              <a:t>거버먼트 크라우드펀딩 누적 프로젝트</a:t>
            </a:r>
            <a:endParaRPr lang="ko-KR" altLang="en-US" sz="1500" dirty="0"/>
          </a:p>
        </p:txBody>
      </p:sp>
      <p:sp>
        <p:nvSpPr>
          <p:cNvPr id="13" name="수치 카드 3"/>
          <p:cNvSpPr/>
          <p:nvPr/>
        </p:nvSpPr>
        <p:spPr>
          <a:xfrm>
            <a:off x="6903720" y="4709160"/>
            <a:ext cx="4709160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B2D">
                <a:alpha val="10000"/>
              </a:srgbClr>
            </a:outerShdw>
          </a:effectLst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7223760" y="48920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3600" b="1" dirty="0">
                <a:solidFill>
                  <a:schemeClr val="accent1"/>
                </a:solidFill>
              </a:rPr>
              <a:t>18억엔</a:t>
            </a:r>
            <a:endParaRPr lang="ko-KR" alt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5513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chemeClr val="accent5"/>
                </a:solidFill>
              </a:rPr>
              <a:t>2016년 구마모토 지진 재해 기부 모금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pPr algn="r" eaLnBrk="0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01  트러스트뱅크 방문</a:t>
            </a:r>
            <a:endParaRPr lang="ko-KR" alt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같은 제도, 다른 속도 — 한국 4년차와 일본 19년차</a:t>
            </a:r>
            <a:endParaRPr lang="ko-KR" altLang="en-US" sz="3200" dirty="0"/>
          </a:p>
        </p:txBody>
      </p:sp>
      <p:sp>
        <p:nvSpPr>
          <p:cNvPr id="4" name="한국 고향사랑기부제 카드"/>
          <p:cNvSpPr/>
          <p:nvPr/>
        </p:nvSpPr>
        <p:spPr>
          <a:xfrm>
            <a:off x="548640" y="1664208"/>
            <a:ext cx="5376672" cy="1481328"/>
          </a:xfrm>
          <a:prstGeom prst="roundRect">
            <a:avLst>
              <a:gd name="adj" fmla="val 8642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B2D">
                <a:alpha val="10000"/>
              </a:srgbClr>
            </a:outerShdw>
          </a:effectLst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한국 고향사랑기부제</a:t>
            </a:r>
            <a:endParaRPr lang="ko-KR" alt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5798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chemeClr val="tx1"/>
                </a:solidFill>
              </a:rPr>
              <a:t>1,515억원</a:t>
            </a:r>
            <a:endParaRPr lang="ko-KR" alt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797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accent5"/>
                </a:solidFill>
              </a:rPr>
              <a:t>2025년 · 139.2만 건</a:t>
            </a:r>
            <a:endParaRPr lang="ko-KR" altLang="en-US" sz="1200" dirty="0"/>
          </a:p>
        </p:txBody>
      </p:sp>
      <p:sp>
        <p:nvSpPr>
          <p:cNvPr id="8" name="일본 후루사토노제(고향납세) 카드"/>
          <p:cNvSpPr/>
          <p:nvPr/>
        </p:nvSpPr>
        <p:spPr>
          <a:xfrm>
            <a:off x="6263640" y="1664208"/>
            <a:ext cx="5376672" cy="1481328"/>
          </a:xfrm>
          <a:prstGeom prst="roundRect">
            <a:avLst>
              <a:gd name="adj" fmla="val 8642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B2D">
                <a:alpha val="10000"/>
              </a:srgbClr>
            </a:outerShdw>
          </a:effectLst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583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accent4"/>
                </a:solidFill>
              </a:rPr>
              <a:t>일본 후루사토노제(고향납세)</a:t>
            </a:r>
            <a:endParaRPr lang="ko-KR" alt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15798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3400" b="1" dirty="0">
                <a:solidFill>
                  <a:schemeClr val="tx1"/>
                </a:solidFill>
              </a:rPr>
              <a:t>1조 3,314억엔</a:t>
            </a:r>
            <a:endParaRPr lang="ko-KR" alt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7797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accent5"/>
                </a:solidFill>
              </a:rPr>
              <a:t>2025년 · 6년 연속 최고 경신</a:t>
            </a:r>
            <a:endParaRPr lang="ko-KR" altLang="en-US" sz="1200" dirty="0"/>
          </a:p>
        </p:txBody>
      </p:sp>
      <p:graphicFrame>
        <p:nvGraphicFramePr>
          <p:cNvPr id="12" name="한일 비교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690272"/>
              </p:ext>
            </p:extLst>
          </p:nvPr>
        </p:nvGraphicFramePr>
        <p:xfrm>
          <a:off x="548640" y="3401568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2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1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ko-KR" alt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</a:t>
                      </a:r>
                      <a:endParaRPr lang="ko-KR" alt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일본</a:t>
                      </a:r>
                      <a:endParaRPr lang="ko-KR" alt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시행</a:t>
                      </a:r>
                      <a:endParaRPr lang="ko-KR" alt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2023년 1월</a:t>
                      </a:r>
                      <a:endParaRPr lang="ko-KR" alt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2008년</a:t>
                      </a:r>
                      <a:endParaRPr lang="ko-KR" alt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 주체</a:t>
                      </a:r>
                      <a:endParaRPr lang="ko-KR" alt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개인만</a:t>
                      </a:r>
                      <a:endParaRPr lang="ko-KR" alt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+ 법인</a:t>
                      </a:r>
                      <a:endParaRPr lang="ko-KR" alt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연간 한도</a:t>
                      </a:r>
                      <a:endParaRPr lang="ko-KR" alt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2,000만원 (소득공제)</a:t>
                      </a:r>
                      <a:endParaRPr lang="ko-KR" alt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상한 없음 (세액공제)</a:t>
                      </a:r>
                      <a:endParaRPr lang="ko-KR" alt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</a:t>
                      </a:r>
                      <a:endParaRPr lang="ko-KR" alt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정부 ‘고향사랑e음’ + 민간 제휴</a:t>
                      </a:r>
                      <a:endParaRPr lang="ko-KR" alt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accent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40여 개 민간 포털 경쟁 (후루사토 초이스 등)</a:t>
                      </a:r>
                      <a:endParaRPr lang="ko-KR" alt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pPr algn="r" eaLnBrk="0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b="1" dirty="0">
                <a:solidFill>
                  <a:schemeClr val="accent3"/>
                </a:solidFill>
              </a:rPr>
              <a:t>트러스트뱅크에서 얻은 질문</a:t>
            </a:r>
            <a:endParaRPr lang="ko-KR" alt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200" b="1" dirty="0">
                <a:solidFill>
                  <a:schemeClr val="bg1"/>
                </a:solidFill>
              </a:rPr>
              <a:t>제도를 키운 건, 불편을 직접 푼 ‘도구’였습니다</a:t>
            </a:r>
            <a:endParaRPr lang="ko-KR" altLang="en-US" sz="3200" dirty="0"/>
          </a:p>
        </p:txBody>
      </p:sp>
      <p:sp>
        <p:nvSpPr>
          <p:cNvPr id="4" name="흐름 1"/>
          <p:cNvSpPr/>
          <p:nvPr/>
        </p:nvSpPr>
        <p:spPr>
          <a:xfrm>
            <a:off x="548640" y="1965960"/>
            <a:ext cx="3310128" cy="2651760"/>
          </a:xfrm>
          <a:prstGeom prst="roundRect">
            <a:avLst>
              <a:gd name="adj" fmla="val 4828"/>
            </a:avLst>
          </a:prstGeom>
          <a:solidFill>
            <a:schemeClr val="bg1">
              <a:alpha val="10000"/>
            </a:schemeClr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800" b="1" dirty="0">
                <a:solidFill>
                  <a:schemeClr val="bg1"/>
                </a:solidFill>
              </a:rPr>
              <a:t>1</a:t>
            </a:r>
            <a:endParaRPr lang="ko-KR" alt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2331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400" b="1" dirty="0">
                <a:solidFill>
                  <a:schemeClr val="accent6"/>
                </a:solidFill>
              </a:rPr>
              <a:t>문제</a:t>
            </a:r>
            <a:endParaRPr lang="ko-KR" alt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2200" b="1" dirty="0">
                <a:solidFill>
                  <a:schemeClr val="bg1"/>
                </a:solidFill>
              </a:rPr>
              <a:t>점과 점의 만남</a:t>
            </a:r>
            <a:endParaRPr lang="ko-KR" alt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58444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115000"/>
              </a:lnSpc>
              <a:buNone/>
            </a:pPr>
            <a:r>
              <a:rPr lang="ko-KR" altLang="en-US" sz="1500" dirty="0">
                <a:solidFill>
                  <a:schemeClr val="accent6"/>
                </a:solidFill>
              </a:rPr>
              <a:t>지자체와 기부자가</a:t>
            </a:r>
            <a:endParaRPr lang="ko-KR" altLang="en-US" sz="1500" dirty="0"/>
          </a:p>
          <a:p>
            <a:pPr marL="0" indent="0" eaLnBrk="0">
              <a:lnSpc>
                <a:spcPct val="115000"/>
              </a:lnSpc>
              <a:buNone/>
            </a:pPr>
            <a:r>
              <a:rPr lang="ko-KR" altLang="en-US" sz="1500" dirty="0">
                <a:solidFill>
                  <a:schemeClr val="accent6"/>
                </a:solidFill>
              </a:rPr>
              <a:t>각자 따로 연결</a:t>
            </a:r>
            <a:endParaRPr lang="ko-KR" altLang="en-US" sz="1500" dirty="0"/>
          </a:p>
        </p:txBody>
      </p:sp>
      <p:sp>
        <p:nvSpPr>
          <p:cNvPr id="10" name="화살표 1"/>
          <p:cNvSpPr/>
          <p:nvPr/>
        </p:nvSpPr>
        <p:spPr>
          <a:xfrm>
            <a:off x="3931920" y="3090672"/>
            <a:ext cx="365760" cy="411480"/>
          </a:xfrm>
          <a:prstGeom prst="rightArrow">
            <a:avLst/>
          </a:prstGeom>
          <a:solidFill>
            <a:schemeClr val="accent3"/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1" name="흐름 2"/>
          <p:cNvSpPr/>
          <p:nvPr/>
        </p:nvSpPr>
        <p:spPr>
          <a:xfrm>
            <a:off x="4370832" y="1965960"/>
            <a:ext cx="3310128" cy="2651760"/>
          </a:xfrm>
          <a:prstGeom prst="roundRect">
            <a:avLst>
              <a:gd name="adj" fmla="val 4828"/>
            </a:avLst>
          </a:prstGeom>
          <a:solidFill>
            <a:schemeClr val="bg1">
              <a:alpha val="10000"/>
            </a:schemeClr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690872" y="224028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90872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800" b="1" dirty="0">
                <a:solidFill>
                  <a:schemeClr val="bg1"/>
                </a:solidFill>
              </a:rPr>
              <a:t>2</a:t>
            </a:r>
            <a:endParaRPr lang="ko-KR" alt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2331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400" b="1" dirty="0">
                <a:solidFill>
                  <a:schemeClr val="accent6"/>
                </a:solidFill>
              </a:rPr>
              <a:t>도구</a:t>
            </a:r>
            <a:endParaRPr lang="ko-KR" alt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2200" b="1" dirty="0">
                <a:solidFill>
                  <a:schemeClr val="bg1"/>
                </a:solidFill>
              </a:rPr>
              <a:t>장(플랫폼)을 만든다</a:t>
            </a:r>
            <a:endParaRPr lang="ko-KR" alt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690872" y="358444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115000"/>
              </a:lnSpc>
              <a:buNone/>
            </a:pPr>
            <a:r>
              <a:rPr lang="ko-KR" altLang="en-US" sz="1500" dirty="0">
                <a:solidFill>
                  <a:schemeClr val="accent6"/>
                </a:solidFill>
              </a:rPr>
              <a:t>모두가 한곳에서 만나는</a:t>
            </a:r>
            <a:endParaRPr lang="ko-KR" altLang="en-US" sz="1500" dirty="0"/>
          </a:p>
          <a:p>
            <a:pPr marL="0" indent="0" eaLnBrk="0">
              <a:lnSpc>
                <a:spcPct val="115000"/>
              </a:lnSpc>
              <a:buNone/>
            </a:pPr>
            <a:r>
              <a:rPr lang="ko-KR" altLang="en-US" sz="1500" dirty="0">
                <a:solidFill>
                  <a:schemeClr val="accent6"/>
                </a:solidFill>
              </a:rPr>
              <a:t>후루사토 초이스</a:t>
            </a:r>
            <a:endParaRPr lang="ko-KR" altLang="en-US" sz="1500" dirty="0"/>
          </a:p>
        </p:txBody>
      </p:sp>
      <p:sp>
        <p:nvSpPr>
          <p:cNvPr id="17" name="화살표 2"/>
          <p:cNvSpPr/>
          <p:nvPr/>
        </p:nvSpPr>
        <p:spPr>
          <a:xfrm>
            <a:off x="7754112" y="3090672"/>
            <a:ext cx="365760" cy="411480"/>
          </a:xfrm>
          <a:prstGeom prst="rightArrow">
            <a:avLst/>
          </a:prstGeom>
          <a:solidFill>
            <a:schemeClr val="accent3"/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8" name="흐름 3"/>
          <p:cNvSpPr/>
          <p:nvPr/>
        </p:nvSpPr>
        <p:spPr>
          <a:xfrm>
            <a:off x="8193024" y="1965960"/>
            <a:ext cx="3310128" cy="2651760"/>
          </a:xfrm>
          <a:prstGeom prst="roundRect">
            <a:avLst>
              <a:gd name="adj" fmla="val 4828"/>
            </a:avLst>
          </a:prstGeom>
          <a:solidFill>
            <a:schemeClr val="bg1">
              <a:alpha val="10000"/>
            </a:schemeClr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513064" y="22402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8513064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800" b="1" dirty="0">
                <a:solidFill>
                  <a:schemeClr val="bg1"/>
                </a:solidFill>
              </a:rPr>
              <a:t>3</a:t>
            </a:r>
            <a:endParaRPr lang="ko-KR" alt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17152" y="2331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400" b="1" dirty="0">
                <a:solidFill>
                  <a:schemeClr val="accent6"/>
                </a:solidFill>
              </a:rPr>
              <a:t>결과</a:t>
            </a:r>
            <a:endParaRPr lang="ko-KR" alt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13064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2200" b="1" dirty="0">
                <a:solidFill>
                  <a:schemeClr val="bg1"/>
                </a:solidFill>
              </a:rPr>
              <a:t>제도가 자란다</a:t>
            </a:r>
            <a:endParaRPr lang="ko-KR" alt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513064" y="358444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115000"/>
              </a:lnSpc>
              <a:buNone/>
            </a:pPr>
            <a:r>
              <a:rPr lang="ko-KR" altLang="en-US" sz="1500" dirty="0">
                <a:solidFill>
                  <a:schemeClr val="accent6"/>
                </a:solidFill>
              </a:rPr>
              <a:t>1,700개 지자체 · 19년</a:t>
            </a:r>
            <a:endParaRPr lang="ko-KR" altLang="en-US" sz="1500" dirty="0"/>
          </a:p>
          <a:p>
            <a:pPr marL="0" indent="0" eaLnBrk="0">
              <a:lnSpc>
                <a:spcPct val="115000"/>
              </a:lnSpc>
              <a:buNone/>
            </a:pPr>
            <a:r>
              <a:rPr lang="ko-KR" altLang="en-US" sz="1500" dirty="0">
                <a:solidFill>
                  <a:schemeClr val="accent6"/>
                </a:solidFill>
              </a:rPr>
              <a:t>민간 플랫폼 경쟁</a:t>
            </a:r>
            <a:endParaRPr lang="ko-KR" alt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2400" b="1" dirty="0">
                <a:solidFill>
                  <a:schemeClr val="accent3"/>
                </a:solidFill>
              </a:rPr>
              <a:t>그렇다면, 우리 일의 불편은 누가 풀어야 할까요?</a:t>
            </a:r>
            <a:endParaRPr lang="ko-KR" alt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pPr algn="r" eaLnBrk="0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02  도구를 만들어 쓰는 시대</a:t>
            </a:r>
            <a:endParaRPr lang="ko-KR" alt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연수 준비물: PDF 11개, 단체방 1개, 그리고 11명</a:t>
            </a:r>
            <a:endParaRPr lang="ko-KR" altLang="en-US" sz="3200" dirty="0"/>
          </a:p>
        </p:txBody>
      </p:sp>
      <p:sp>
        <p:nvSpPr>
          <p:cNvPr id="4" name="흩어진 자료 1"/>
          <p:cNvSpPr/>
          <p:nvPr/>
        </p:nvSpPr>
        <p:spPr>
          <a:xfrm>
            <a:off x="548640" y="1783080"/>
            <a:ext cx="3017520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B2D">
                <a:alpha val="10000"/>
              </a:srgbClr>
            </a:outerShdw>
          </a:effectLst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2400" dirty="0">
                <a:solidFill>
                  <a:srgbClr val="000000"/>
                </a:solidFill>
              </a:rPr>
              <a:t>📄</a:t>
            </a:r>
            <a:endParaRPr lang="ko-KR" alt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00253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최종 계획서 PDF</a:t>
            </a:r>
            <a:endParaRPr lang="ko-KR" alt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048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accent5"/>
                </a:solidFill>
              </a:rPr>
              <a:t>9/3 확정본, 5일 일정표</a:t>
            </a:r>
            <a:endParaRPr lang="ko-KR" altLang="en-US" sz="1200" dirty="0"/>
          </a:p>
        </p:txBody>
      </p:sp>
      <p:sp>
        <p:nvSpPr>
          <p:cNvPr id="8" name="흩어진 자료 2"/>
          <p:cNvSpPr/>
          <p:nvPr/>
        </p:nvSpPr>
        <p:spPr>
          <a:xfrm>
            <a:off x="3794760" y="1783080"/>
            <a:ext cx="3017520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B2D">
                <a:alpha val="10000"/>
              </a:srgbClr>
            </a:outerShdw>
          </a:effectLst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99592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2400" dirty="0">
                <a:solidFill>
                  <a:srgbClr val="000000"/>
                </a:solidFill>
              </a:rPr>
              <a:t>🏛️</a:t>
            </a:r>
            <a:endParaRPr lang="ko-KR" alt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00253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기관 자료 PDF 9개</a:t>
            </a:r>
            <a:endParaRPr lang="ko-KR" alt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4048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accent5"/>
                </a:solidFill>
              </a:rPr>
              <a:t>사전조사 · 질문 자료</a:t>
            </a:r>
            <a:endParaRPr lang="ko-KR" altLang="en-US" sz="1200" dirty="0"/>
          </a:p>
        </p:txBody>
      </p:sp>
      <p:sp>
        <p:nvSpPr>
          <p:cNvPr id="12" name="흩어진 자료 3"/>
          <p:cNvSpPr/>
          <p:nvPr/>
        </p:nvSpPr>
        <p:spPr>
          <a:xfrm>
            <a:off x="548640" y="3154680"/>
            <a:ext cx="3017520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B2D">
                <a:alpha val="10000"/>
              </a:srgbClr>
            </a:outerShdw>
          </a:effectLst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2400" dirty="0">
                <a:solidFill>
                  <a:srgbClr val="000000"/>
                </a:solidFill>
              </a:rPr>
              <a:t>📕</a:t>
            </a:r>
            <a:endParaRPr lang="ko-KR" alt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37413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연수 핸드북 PDF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7764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accent5"/>
                </a:solidFill>
              </a:rPr>
              <a:t>전체 안내 자료</a:t>
            </a:r>
            <a:endParaRPr lang="ko-KR" altLang="en-US" sz="1200" dirty="0"/>
          </a:p>
        </p:txBody>
      </p:sp>
      <p:sp>
        <p:nvSpPr>
          <p:cNvPr id="16" name="흩어진 자료 4"/>
          <p:cNvSpPr/>
          <p:nvPr/>
        </p:nvSpPr>
        <p:spPr>
          <a:xfrm>
            <a:off x="3794760" y="3154680"/>
            <a:ext cx="3017520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B2D">
                <a:alpha val="10000"/>
              </a:srgbClr>
            </a:outerShdw>
          </a:effectLst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3995928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2400" dirty="0">
                <a:solidFill>
                  <a:srgbClr val="000000"/>
                </a:solidFill>
              </a:rPr>
              <a:t>📍</a:t>
            </a:r>
            <a:endParaRPr lang="ko-KR" alt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37413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구글맵 장소 링크</a:t>
            </a:r>
            <a:endParaRPr lang="ko-KR" alt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7764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accent5"/>
                </a:solidFill>
              </a:rPr>
              <a:t>기관 · 숙소 · 식당</a:t>
            </a:r>
            <a:endParaRPr lang="ko-KR" altLang="en-US" sz="1200" dirty="0"/>
          </a:p>
        </p:txBody>
      </p:sp>
      <p:sp>
        <p:nvSpPr>
          <p:cNvPr id="20" name="흩어진 자료 5"/>
          <p:cNvSpPr/>
          <p:nvPr/>
        </p:nvSpPr>
        <p:spPr>
          <a:xfrm>
            <a:off x="548640" y="4526280"/>
            <a:ext cx="3017520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B2D">
                <a:alpha val="10000"/>
              </a:srgbClr>
            </a:outerShdw>
          </a:effectLst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49808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2400" dirty="0">
                <a:solidFill>
                  <a:srgbClr val="000000"/>
                </a:solidFill>
              </a:rPr>
              <a:t>💬</a:t>
            </a:r>
            <a:endParaRPr lang="ko-KR" alt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74573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단체방 공지</a:t>
            </a:r>
            <a:endParaRPr lang="ko-KR" alt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1480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accent5"/>
                </a:solidFill>
              </a:rPr>
              <a:t>일정 변경 · 집결 시각</a:t>
            </a:r>
            <a:endParaRPr lang="ko-KR" altLang="en-US" sz="1200" dirty="0"/>
          </a:p>
        </p:txBody>
      </p:sp>
      <p:sp>
        <p:nvSpPr>
          <p:cNvPr id="24" name="흩어진 자료 6"/>
          <p:cNvSpPr/>
          <p:nvPr/>
        </p:nvSpPr>
        <p:spPr>
          <a:xfrm>
            <a:off x="3794760" y="4526280"/>
            <a:ext cx="3017520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B2D">
                <a:alpha val="10000"/>
              </a:srgbClr>
            </a:outerShdw>
          </a:effectLst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3995928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2400" dirty="0">
                <a:solidFill>
                  <a:srgbClr val="000000"/>
                </a:solidFill>
              </a:rPr>
              <a:t>🆘</a:t>
            </a:r>
            <a:endParaRPr lang="ko-KR" alt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474573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비상 연락처</a:t>
            </a:r>
            <a:endParaRPr lang="ko-KR" alt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51480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accent5"/>
                </a:solidFill>
              </a:rPr>
              <a:t>영사콜센터 · 숙소 · 인솔진</a:t>
            </a:r>
            <a:endParaRPr lang="ko-KR" altLang="en-US" sz="1200" dirty="0"/>
          </a:p>
        </p:txBody>
      </p:sp>
      <p:sp>
        <p:nvSpPr>
          <p:cNvPr id="28" name="모으기 화살표"/>
          <p:cNvSpPr/>
          <p:nvPr/>
        </p:nvSpPr>
        <p:spPr>
          <a:xfrm>
            <a:off x="7086600" y="3429000"/>
            <a:ext cx="685800" cy="640080"/>
          </a:xfrm>
          <a:prstGeom prst="rightArrow">
            <a:avLst/>
          </a:prstGeom>
          <a:solidFill>
            <a:schemeClr val="accent3"/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pic>
        <p:nvPicPr>
          <p:cNvPr id="29" name="링크 하나 폰" descr="연수 앱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645920"/>
            <a:ext cx="1907798" cy="420624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0012680" y="251460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120000"/>
              </a:lnSpc>
              <a:buNone/>
            </a:pPr>
            <a:r>
              <a:rPr lang="ko-KR" altLang="en-US" sz="2200" b="1" dirty="0">
                <a:solidFill>
                  <a:schemeClr val="accent1"/>
                </a:solidFill>
              </a:rPr>
              <a:t>링크 하나</a:t>
            </a:r>
            <a:endParaRPr lang="ko-KR" altLang="en-US" sz="2200" dirty="0"/>
          </a:p>
          <a:p>
            <a:pPr marL="0" indent="0" eaLnBrk="0">
              <a:lnSpc>
                <a:spcPct val="120000"/>
              </a:lnSpc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현장에 필요한 건</a:t>
            </a:r>
            <a:endParaRPr lang="ko-KR" altLang="en-US" sz="2200" dirty="0"/>
          </a:p>
          <a:p>
            <a:pPr marL="0" indent="0" eaLnBrk="0">
              <a:lnSpc>
                <a:spcPct val="120000"/>
              </a:lnSpc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지금, 다음,</a:t>
            </a:r>
            <a:endParaRPr lang="ko-KR" altLang="en-US" sz="2200" dirty="0"/>
          </a:p>
          <a:p>
            <a:pPr marL="0" indent="0" eaLnBrk="0">
              <a:lnSpc>
                <a:spcPct val="120000"/>
              </a:lnSpc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그리고 이 기관</a:t>
            </a:r>
            <a:endParaRPr lang="ko-KR" alt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accent5"/>
                </a:solidFill>
              </a:rPr>
              <a:t>정보는 흩어져 있고, 버스 안·기관 앞에서 찾아볼 시간은 없습니다.</a:t>
            </a:r>
            <a:endParaRPr lang="ko-KR" altLang="en-US" sz="15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pPr algn="r" eaLnBrk="0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754880" y="56692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02  연수 앱 소개</a:t>
            </a:r>
            <a:endParaRPr lang="ko-KR" alt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754880" y="89611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그래서 만들었습니다 — 연수 전용 앱</a:t>
            </a:r>
            <a:endParaRPr lang="ko-KR" altLang="en-US" sz="3200" dirty="0"/>
          </a:p>
        </p:txBody>
      </p:sp>
      <p:pic>
        <p:nvPicPr>
          <p:cNvPr id="4" name="연수 앱 시연 영상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27651" y="867915"/>
            <a:ext cx="2464288" cy="5311074"/>
          </a:xfrm>
          <a:prstGeom prst="rect">
            <a:avLst/>
          </a:prstGeom>
        </p:spPr>
      </p:pic>
      <p:pic>
        <p:nvPicPr>
          <p:cNvPr id="5" name="연수 앱 시연 프레임" descr="휴대폰 프레임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57200"/>
            <a:ext cx="2633590" cy="5806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754880" y="17373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900" dirty="0">
                <a:solidFill>
                  <a:schemeClr val="accent5"/>
                </a:solidFill>
              </a:rPr>
              <a:t>링크 하나로 여는, 11명 실시간 공유 일정 앱</a:t>
            </a:r>
            <a:endParaRPr lang="ko-KR" altLang="en-US" sz="1900" dirty="0"/>
          </a:p>
        </p:txBody>
      </p:sp>
      <p:sp>
        <p:nvSpPr>
          <p:cNvPr id="7" name="아이콘 원 1"/>
          <p:cNvSpPr/>
          <p:nvPr/>
        </p:nvSpPr>
        <p:spPr>
          <a:xfrm>
            <a:off x="4754880" y="2377440"/>
            <a:ext cx="566928" cy="566928"/>
          </a:xfrm>
          <a:prstGeom prst="ellipse">
            <a:avLst/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475488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800" dirty="0">
                <a:solidFill>
                  <a:srgbClr val="000000"/>
                </a:solidFill>
              </a:rPr>
              <a:t>🔗</a:t>
            </a:r>
            <a:endParaRPr lang="ko-KR" alt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532120" y="235915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설치 없이 링크 하나</a:t>
            </a:r>
            <a:endParaRPr lang="ko-KR" alt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532120" y="268833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웹 주소를 홈 화면에 추가 · 첫 화면에서 이름만 입력하면 입장</a:t>
            </a:r>
            <a:endParaRPr lang="ko-KR" altLang="en-US" sz="1300" dirty="0"/>
          </a:p>
        </p:txBody>
      </p:sp>
      <p:sp>
        <p:nvSpPr>
          <p:cNvPr id="11" name="아이콘 원 2"/>
          <p:cNvSpPr/>
          <p:nvPr/>
        </p:nvSpPr>
        <p:spPr>
          <a:xfrm>
            <a:off x="4754880" y="3163824"/>
            <a:ext cx="566928" cy="566928"/>
          </a:xfrm>
          <a:prstGeom prst="ellipse">
            <a:avLst/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4754880" y="3163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800" dirty="0">
                <a:solidFill>
                  <a:srgbClr val="000000"/>
                </a:solidFill>
              </a:rPr>
              <a:t>⚡</a:t>
            </a:r>
            <a:endParaRPr lang="ko-KR" alt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532120" y="314553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실시간 공유</a:t>
            </a:r>
            <a:endParaRPr lang="ko-KR" alt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532120" y="34747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관리자가 일정을 고치면 11명 화면에 바로 반영</a:t>
            </a:r>
            <a:endParaRPr lang="ko-KR" altLang="en-US" sz="1300" dirty="0"/>
          </a:p>
        </p:txBody>
      </p:sp>
      <p:sp>
        <p:nvSpPr>
          <p:cNvPr id="15" name="아이콘 원 3"/>
          <p:cNvSpPr/>
          <p:nvPr/>
        </p:nvSpPr>
        <p:spPr>
          <a:xfrm>
            <a:off x="4754880" y="3950208"/>
            <a:ext cx="566928" cy="566928"/>
          </a:xfrm>
          <a:prstGeom prst="ellipse">
            <a:avLst/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4754880" y="3950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800" dirty="0">
                <a:solidFill>
                  <a:srgbClr val="000000"/>
                </a:solidFill>
              </a:rPr>
              <a:t>📴</a:t>
            </a:r>
            <a:endParaRPr lang="ko-KR" alt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532120" y="393192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오프라인 대비</a:t>
            </a:r>
            <a:endParaRPr lang="ko-KR" alt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5532120" y="426110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한 번 열어 두면 지하·기내에서도 일정과 기관 자료 열람</a:t>
            </a:r>
            <a:endParaRPr lang="ko-KR" altLang="en-US" sz="1300" dirty="0"/>
          </a:p>
        </p:txBody>
      </p:sp>
      <p:sp>
        <p:nvSpPr>
          <p:cNvPr id="19" name="아이콘 원 4"/>
          <p:cNvSpPr/>
          <p:nvPr/>
        </p:nvSpPr>
        <p:spPr>
          <a:xfrm>
            <a:off x="4754880" y="4736592"/>
            <a:ext cx="566928" cy="566928"/>
          </a:xfrm>
          <a:prstGeom prst="ellipse">
            <a:avLst/>
          </a:prstGeom>
          <a:solidFill>
            <a:schemeClr val="bg1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4754880" y="4736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800" dirty="0">
                <a:solidFill>
                  <a:srgbClr val="000000"/>
                </a:solidFill>
              </a:rPr>
              <a:t>🤖</a:t>
            </a:r>
            <a:endParaRPr lang="ko-KR" alt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5532120" y="47183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AI와 함께 직접 개발</a:t>
            </a:r>
            <a:endParaRPr lang="ko-KR" alt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5532120" y="504748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HTML 파일 하나로 만들고 GitHub Pages로 배포</a:t>
            </a:r>
            <a:endParaRPr lang="ko-KR" altLang="en-US" sz="1300" dirty="0"/>
          </a:p>
        </p:txBody>
      </p:sp>
      <p:sp>
        <p:nvSpPr>
          <p:cNvPr id="23" name="숫자 띠"/>
          <p:cNvSpPr/>
          <p:nvPr/>
        </p:nvSpPr>
        <p:spPr>
          <a:xfrm>
            <a:off x="4754880" y="5532120"/>
            <a:ext cx="6858000" cy="731520"/>
          </a:xfrm>
          <a:prstGeom prst="roundRect">
            <a:avLst>
              <a:gd name="adj" fmla="val 175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F1B2D">
                <a:alpha val="10000"/>
              </a:srgbClr>
            </a:outerShdw>
          </a:effectLst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4892040" y="5577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2600" b="1" dirty="0">
                <a:solidFill>
                  <a:schemeClr val="accent1"/>
                </a:solidFill>
              </a:rPr>
              <a:t>11</a:t>
            </a:r>
            <a:r>
              <a:rPr lang="ko-KR" altLang="en-US" sz="1400" dirty="0">
                <a:solidFill>
                  <a:schemeClr val="accent5"/>
                </a:solidFill>
              </a:rPr>
              <a:t> 명</a:t>
            </a:r>
            <a:endParaRPr lang="ko-KR" altLang="en-US" sz="2600" dirty="0"/>
          </a:p>
        </p:txBody>
      </p:sp>
      <p:sp>
        <p:nvSpPr>
          <p:cNvPr id="25" name="Text 21"/>
          <p:cNvSpPr txBox="1"/>
          <p:nvPr/>
        </p:nvSpPr>
        <p:spPr>
          <a:xfrm>
            <a:off x="6583680" y="5577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2600" b="1" dirty="0">
                <a:solidFill>
                  <a:schemeClr val="accent1"/>
                </a:solidFill>
              </a:rPr>
              <a:t>5</a:t>
            </a:r>
            <a:r>
              <a:rPr lang="ko-KR" altLang="en-US" sz="1400" dirty="0">
                <a:solidFill>
                  <a:schemeClr val="accent5"/>
                </a:solidFill>
              </a:rPr>
              <a:t> 일</a:t>
            </a:r>
            <a:endParaRPr lang="ko-KR" altLang="en-US" sz="2600" dirty="0"/>
          </a:p>
        </p:txBody>
      </p:sp>
      <p:sp>
        <p:nvSpPr>
          <p:cNvPr id="26" name="Text 22"/>
          <p:cNvSpPr txBox="1"/>
          <p:nvPr/>
        </p:nvSpPr>
        <p:spPr>
          <a:xfrm>
            <a:off x="8275320" y="5577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2600" b="1" dirty="0">
                <a:solidFill>
                  <a:schemeClr val="accent1"/>
                </a:solidFill>
              </a:rPr>
              <a:t>9</a:t>
            </a:r>
            <a:r>
              <a:rPr lang="ko-KR" altLang="en-US" sz="1400" dirty="0">
                <a:solidFill>
                  <a:schemeClr val="accent5"/>
                </a:solidFill>
              </a:rPr>
              <a:t> 개 기관</a:t>
            </a:r>
            <a:endParaRPr lang="ko-KR" altLang="en-US" sz="2600" dirty="0"/>
          </a:p>
        </p:txBody>
      </p:sp>
      <p:sp>
        <p:nvSpPr>
          <p:cNvPr id="27" name="Text 23"/>
          <p:cNvSpPr txBox="1"/>
          <p:nvPr/>
        </p:nvSpPr>
        <p:spPr>
          <a:xfrm>
            <a:off x="9966960" y="5577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2600" b="1" dirty="0">
                <a:solidFill>
                  <a:schemeClr val="accent1"/>
                </a:solidFill>
              </a:rPr>
              <a:t>44</a:t>
            </a:r>
            <a:r>
              <a:rPr lang="ko-KR" altLang="en-US" sz="1400" dirty="0">
                <a:solidFill>
                  <a:schemeClr val="accent5"/>
                </a:solidFill>
              </a:rPr>
              <a:t> 개 일정</a:t>
            </a:r>
            <a:endParaRPr lang="ko-KR" altLang="en-US" sz="2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pPr algn="r" eaLnBrk="0"/>
              <a:t>6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02  핵심 기능</a:t>
            </a:r>
            <a:endParaRPr lang="ko-KR" alt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‘폰을 꺼내는 순간’에 맞춘 네 가지 화면</a:t>
            </a:r>
            <a:endParaRPr lang="ko-KR" altLang="en-US" sz="3200" dirty="0"/>
          </a:p>
        </p:txBody>
      </p:sp>
      <p:pic>
        <p:nvPicPr>
          <p:cNvPr id="4" name="오늘 화면" descr="연수 앱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23" y="1645920"/>
            <a:ext cx="1638218" cy="3611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5440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94360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5440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오늘</a:t>
            </a:r>
            <a:endParaRPr lang="ko-KR" alt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8704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110000"/>
              </a:lnSpc>
              <a:buNone/>
            </a:pPr>
            <a:r>
              <a:rPr lang="ko-KR" altLang="en-US" sz="1150" dirty="0">
                <a:solidFill>
                  <a:schemeClr val="accent5"/>
                </a:solidFill>
              </a:rPr>
              <a:t>지금 진행 중 · 남은 시간 · 다음 일정</a:t>
            </a:r>
            <a:endParaRPr lang="ko-KR" altLang="en-US" sz="1150" dirty="0"/>
          </a:p>
          <a:p>
            <a:pPr marL="0" indent="0" eaLnBrk="0">
              <a:lnSpc>
                <a:spcPct val="110000"/>
              </a:lnSpc>
              <a:buNone/>
            </a:pPr>
            <a:r>
              <a:rPr lang="ko-KR" altLang="en-US" sz="1150" dirty="0">
                <a:solidFill>
                  <a:schemeClr val="accent5"/>
                </a:solidFill>
              </a:rPr>
              <a:t>좌우로 밀어 날짜 이동</a:t>
            </a:r>
            <a:endParaRPr lang="ko-KR" altLang="en-US" sz="1150" dirty="0"/>
          </a:p>
        </p:txBody>
      </p:sp>
      <p:pic>
        <p:nvPicPr>
          <p:cNvPr id="9" name="기관 브리핑 화면" descr="연수 앱 화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475" y="1645920"/>
            <a:ext cx="1638218" cy="3611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10712" y="5440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3410712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895344" y="5440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기관 브리핑</a:t>
            </a:r>
            <a:endParaRPr lang="ko-KR" alt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410712" y="58704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110000"/>
              </a:lnSpc>
              <a:buNone/>
            </a:pPr>
            <a:r>
              <a:rPr lang="ko-KR" altLang="en-US" sz="1150" dirty="0">
                <a:solidFill>
                  <a:schemeClr val="accent5"/>
                </a:solidFill>
              </a:rPr>
              <a:t>개요 · 방문 목적 · 사전 질문</a:t>
            </a:r>
            <a:endParaRPr lang="ko-KR" altLang="en-US" sz="1150" dirty="0"/>
          </a:p>
          <a:p>
            <a:pPr marL="0" indent="0" eaLnBrk="0">
              <a:lnSpc>
                <a:spcPct val="110000"/>
              </a:lnSpc>
              <a:buNone/>
            </a:pPr>
            <a:r>
              <a:rPr lang="ko-KR" altLang="en-US" sz="1150" dirty="0">
                <a:solidFill>
                  <a:schemeClr val="accent5"/>
                </a:solidFill>
              </a:rPr>
              <a:t>기관별 사전조사 PDF 바로 열기</a:t>
            </a:r>
            <a:endParaRPr lang="ko-KR" altLang="en-US" sz="1150" dirty="0"/>
          </a:p>
        </p:txBody>
      </p:sp>
      <p:pic>
        <p:nvPicPr>
          <p:cNvPr id="14" name="메모 화면" descr="연수 앱 화면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9827" y="1645920"/>
            <a:ext cx="1638218" cy="36118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227064" y="5440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6" name="Text 11"/>
          <p:cNvSpPr txBox="1"/>
          <p:nvPr/>
        </p:nvSpPr>
        <p:spPr>
          <a:xfrm>
            <a:off x="6227064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711696" y="5440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메모</a:t>
            </a:r>
            <a:endParaRPr lang="ko-KR" alt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227064" y="58704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110000"/>
              </a:lnSpc>
              <a:buNone/>
            </a:pPr>
            <a:r>
              <a:rPr lang="ko-KR" altLang="en-US" sz="1150" dirty="0">
                <a:solidFill>
                  <a:schemeClr val="accent5"/>
                </a:solidFill>
              </a:rPr>
              <a:t>개인 메모 30초 자동 저장</a:t>
            </a:r>
            <a:endParaRPr lang="ko-KR" altLang="en-US" sz="1150" dirty="0"/>
          </a:p>
          <a:p>
            <a:pPr marL="0" indent="0" eaLnBrk="0">
              <a:lnSpc>
                <a:spcPct val="110000"/>
              </a:lnSpc>
              <a:buNone/>
            </a:pPr>
            <a:r>
              <a:rPr lang="ko-KR" altLang="en-US" sz="1150" dirty="0">
                <a:solidFill>
                  <a:schemeClr val="accent5"/>
                </a:solidFill>
              </a:rPr>
              <a:t>공유 메모로 11명 기록 모으기</a:t>
            </a:r>
            <a:endParaRPr lang="ko-KR" altLang="en-US" sz="1150" dirty="0"/>
          </a:p>
        </p:txBody>
      </p:sp>
      <p:pic>
        <p:nvPicPr>
          <p:cNvPr id="19" name="비상 연락처 화면" descr="연수 앱 화면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6179" y="1645920"/>
            <a:ext cx="1638218" cy="36118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043416" y="5440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9043416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9528048" y="5440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비상 연락처</a:t>
            </a:r>
            <a:endParaRPr lang="ko-KR" alt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043416" y="58704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110000"/>
              </a:lnSpc>
              <a:buNone/>
            </a:pPr>
            <a:r>
              <a:rPr lang="ko-KR" altLang="en-US" sz="1150" dirty="0">
                <a:solidFill>
                  <a:schemeClr val="accent5"/>
                </a:solidFill>
              </a:rPr>
              <a:t>오늘 밤 숙소 · 영사콜센터 · 110/119</a:t>
            </a:r>
            <a:endParaRPr lang="ko-KR" altLang="en-US" sz="1150" dirty="0"/>
          </a:p>
          <a:p>
            <a:pPr marL="0" indent="0" eaLnBrk="0">
              <a:lnSpc>
                <a:spcPct val="110000"/>
              </a:lnSpc>
              <a:buNone/>
            </a:pPr>
            <a:r>
              <a:rPr lang="ko-KR" altLang="en-US" sz="1150" dirty="0">
                <a:solidFill>
                  <a:schemeClr val="accent5"/>
                </a:solidFill>
              </a:rPr>
              <a:t>누르면 바로 전화</a:t>
            </a:r>
            <a:endParaRPr lang="ko-KR" alt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pPr algn="r" eaLnBrk="0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b="1" dirty="0">
                <a:solidFill>
                  <a:schemeClr val="accent3"/>
                </a:solidFill>
              </a:rPr>
              <a:t>02  현장에서 배운 것</a:t>
            </a:r>
            <a:endParaRPr lang="ko-KR" alt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200" b="1" dirty="0">
                <a:solidFill>
                  <a:schemeClr val="bg1"/>
                </a:solidFill>
              </a:rPr>
              <a:t>결국 가장 많이 쓰인 건 ‘시간표’였습니다</a:t>
            </a:r>
            <a:endParaRPr lang="ko-KR" altLang="en-US" sz="3200" dirty="0"/>
          </a:p>
        </p:txBody>
      </p:sp>
      <p:pic>
        <p:nvPicPr>
          <p:cNvPr id="4" name="현장 기능 폰" descr="연수 앱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00200"/>
            <a:ext cx="2094430" cy="4617720"/>
          </a:xfrm>
          <a:prstGeom prst="rect">
            <a:avLst/>
          </a:prstGeom>
        </p:spPr>
      </p:pic>
      <p:sp>
        <p:nvSpPr>
          <p:cNvPr id="5" name="사용 빈도 1"/>
          <p:cNvSpPr/>
          <p:nvPr/>
        </p:nvSpPr>
        <p:spPr>
          <a:xfrm>
            <a:off x="4069080" y="1819656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4069080" y="181965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300" b="1" dirty="0">
                <a:solidFill>
                  <a:schemeClr val="tx2"/>
                </a:solidFill>
              </a:rPr>
              <a:t>모두 · 매일</a:t>
            </a:r>
            <a:endParaRPr lang="ko-KR" alt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783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100" b="1" dirty="0">
                <a:solidFill>
                  <a:schemeClr val="bg1"/>
                </a:solidFill>
              </a:rPr>
              <a:t>‘지금 진행 중’ 카드와 다음 일정</a:t>
            </a:r>
            <a:endParaRPr lang="ko-KR" alt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286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chemeClr val="accent6"/>
                </a:solidFill>
              </a:rPr>
              <a:t>시간표처럼 “다음에 어디 가지?”를 확인하는 데 가장 많이 썼습니다</a:t>
            </a:r>
            <a:endParaRPr lang="ko-KR" altLang="en-US" sz="1500" dirty="0"/>
          </a:p>
        </p:txBody>
      </p:sp>
      <p:sp>
        <p:nvSpPr>
          <p:cNvPr id="9" name="사용 빈도 2"/>
          <p:cNvSpPr/>
          <p:nvPr/>
        </p:nvSpPr>
        <p:spPr>
          <a:xfrm>
            <a:off x="4069080" y="3008376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4069080" y="300837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300" b="1" dirty="0">
                <a:solidFill>
                  <a:schemeClr val="tx2"/>
                </a:solidFill>
              </a:rPr>
              <a:t>급할 때 · 나만</a:t>
            </a:r>
            <a:endParaRPr lang="ko-KR" alt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29718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100" b="1" dirty="0">
                <a:solidFill>
                  <a:schemeClr val="bg1"/>
                </a:solidFill>
              </a:rPr>
              <a:t>메모</a:t>
            </a:r>
            <a:endParaRPr lang="ko-KR" alt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3474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chemeClr val="accent6"/>
                </a:solidFill>
              </a:rPr>
              <a:t>급할 때 잠깐 쓰거나, 사실상 저 혼자 썼습니다</a:t>
            </a:r>
            <a:endParaRPr lang="ko-KR" altLang="en-US" sz="1500" dirty="0"/>
          </a:p>
        </p:txBody>
      </p:sp>
      <p:sp>
        <p:nvSpPr>
          <p:cNvPr id="13" name="사용 빈도 3"/>
          <p:cNvSpPr/>
          <p:nvPr/>
        </p:nvSpPr>
        <p:spPr>
          <a:xfrm>
            <a:off x="4069080" y="4197096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069080" y="419709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생각보다 적게</a:t>
            </a:r>
            <a:endParaRPr lang="ko-KR" alt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0" y="41605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100" b="1" dirty="0">
                <a:solidFill>
                  <a:schemeClr val="bg1"/>
                </a:solidFill>
              </a:rPr>
              <a:t>익숙하지 않은 기능</a:t>
            </a:r>
            <a:endParaRPr lang="ko-KR" alt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4663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chemeClr val="accent6"/>
                </a:solidFill>
              </a:rPr>
              <a:t>좋아 보이는 새 방식도, 현장에서는 생각보다 잘 쓰이지 않았습니다</a:t>
            </a:r>
            <a:endParaRPr lang="ko-KR" altLang="en-US" sz="1500" dirty="0"/>
          </a:p>
        </p:txBody>
      </p:sp>
      <p:sp>
        <p:nvSpPr>
          <p:cNvPr id="17" name="구분선"/>
          <p:cNvSpPr/>
          <p:nvPr/>
        </p:nvSpPr>
        <p:spPr>
          <a:xfrm>
            <a:off x="4069080" y="5349240"/>
            <a:ext cx="75438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4069080" y="5532120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900" b="1" dirty="0">
                <a:solidFill>
                  <a:schemeClr val="accent3"/>
                </a:solidFill>
              </a:rPr>
              <a:t>사람들은 새 기능이 아니라, 이미 익숙한 모양으로 도구를 씁니다</a:t>
            </a:r>
            <a:endParaRPr lang="ko-KR" alt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pPr algn="r" eaLnBrk="0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b="1" dirty="0">
                <a:solidFill>
                  <a:schemeClr val="accent3"/>
                </a:solidFill>
              </a:rPr>
              <a:t>마무리</a:t>
            </a:r>
            <a:endParaRPr lang="ko-KR" alt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200" b="1" dirty="0">
                <a:solidFill>
                  <a:schemeClr val="bg1"/>
                </a:solidFill>
              </a:rPr>
              <a:t>이제는 도구를 ‘만들어 쓰는’ 시대입니다</a:t>
            </a:r>
            <a:endParaRPr lang="ko-KR" altLang="en-US" sz="3200" dirty="0"/>
          </a:p>
        </p:txBody>
      </p:sp>
      <p:sp>
        <p:nvSpPr>
          <p:cNvPr id="4" name="정리 1"/>
          <p:cNvSpPr/>
          <p:nvPr/>
        </p:nvSpPr>
        <p:spPr>
          <a:xfrm>
            <a:off x="548640" y="1828800"/>
            <a:ext cx="3520440" cy="2743200"/>
          </a:xfrm>
          <a:prstGeom prst="roundRect">
            <a:avLst>
              <a:gd name="adj" fmla="val 4667"/>
            </a:avLst>
          </a:prstGeom>
          <a:solidFill>
            <a:schemeClr val="bg1">
              <a:alpha val="10000"/>
            </a:schemeClr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800" b="1" dirty="0">
                <a:solidFill>
                  <a:schemeClr val="bg1"/>
                </a:solidFill>
              </a:rPr>
              <a:t>1</a:t>
            </a:r>
            <a:endParaRPr lang="ko-KR" alt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110000"/>
              </a:lnSpc>
              <a:buNone/>
            </a:pPr>
            <a:r>
              <a:rPr lang="ko-KR" altLang="en-US" sz="1900" b="1" dirty="0">
                <a:solidFill>
                  <a:schemeClr val="bg1"/>
                </a:solidFill>
              </a:rPr>
              <a:t>불편을 가장 잘 아는 사람이 만든다</a:t>
            </a:r>
            <a:endParaRPr lang="ko-KR" alt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03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115000"/>
              </a:lnSpc>
              <a:buNone/>
            </a:pPr>
            <a:r>
              <a:rPr lang="ko-KR" altLang="en-US" sz="1400" dirty="0">
                <a:solidFill>
                  <a:schemeClr val="accent6"/>
                </a:solidFill>
              </a:rPr>
              <a:t>문제를 정의하는 건 현장 담당자. 코드는 AI와 함께 쓸 수 있습니다.</a:t>
            </a:r>
            <a:endParaRPr lang="ko-KR" altLang="en-US" sz="1400" dirty="0"/>
          </a:p>
        </p:txBody>
      </p:sp>
      <p:sp>
        <p:nvSpPr>
          <p:cNvPr id="9" name="정리 2"/>
          <p:cNvSpPr/>
          <p:nvPr/>
        </p:nvSpPr>
        <p:spPr>
          <a:xfrm>
            <a:off x="4370832" y="1828800"/>
            <a:ext cx="3520440" cy="2743200"/>
          </a:xfrm>
          <a:prstGeom prst="roundRect">
            <a:avLst>
              <a:gd name="adj" fmla="val 4667"/>
            </a:avLst>
          </a:prstGeom>
          <a:solidFill>
            <a:schemeClr val="bg1">
              <a:alpha val="10000"/>
            </a:schemeClr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690872" y="210312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690872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800" b="1" dirty="0">
                <a:solidFill>
                  <a:schemeClr val="bg1"/>
                </a:solidFill>
              </a:rPr>
              <a:t>2</a:t>
            </a:r>
            <a:endParaRPr lang="ko-KR" alt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110000"/>
              </a:lnSpc>
              <a:buNone/>
            </a:pPr>
            <a:r>
              <a:rPr lang="ko-KR" altLang="en-US" sz="1900" b="1" dirty="0">
                <a:solidFill>
                  <a:schemeClr val="bg1"/>
                </a:solidFill>
              </a:rPr>
              <a:t>익숙한 모양으로, 작게</a:t>
            </a:r>
            <a:endParaRPr lang="ko-KR" alt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3703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115000"/>
              </a:lnSpc>
              <a:buNone/>
            </a:pPr>
            <a:r>
              <a:rPr lang="ko-KR" altLang="en-US" sz="1400" dirty="0">
                <a:solidFill>
                  <a:schemeClr val="accent6"/>
                </a:solidFill>
              </a:rPr>
              <a:t>현장에서 쓰인 건 새 기능이 아니라 익숙한 시간표였습니다.</a:t>
            </a:r>
            <a:endParaRPr lang="ko-KR" altLang="en-US" sz="1400" dirty="0"/>
          </a:p>
        </p:txBody>
      </p:sp>
      <p:sp>
        <p:nvSpPr>
          <p:cNvPr id="14" name="정리 3"/>
          <p:cNvSpPr/>
          <p:nvPr/>
        </p:nvSpPr>
        <p:spPr>
          <a:xfrm>
            <a:off x="8193024" y="1828800"/>
            <a:ext cx="3520440" cy="2743200"/>
          </a:xfrm>
          <a:prstGeom prst="roundRect">
            <a:avLst>
              <a:gd name="adj" fmla="val 4667"/>
            </a:avLst>
          </a:prstGeom>
          <a:solidFill>
            <a:schemeClr val="bg1">
              <a:alpha val="10000"/>
            </a:schemeClr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513064" y="210312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pPr eaLnBrk="0"/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51306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800" b="1" dirty="0">
                <a:solidFill>
                  <a:schemeClr val="bg1"/>
                </a:solidFill>
              </a:rPr>
              <a:t>3</a:t>
            </a:r>
            <a:endParaRPr lang="ko-KR" alt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13064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110000"/>
              </a:lnSpc>
              <a:buNone/>
            </a:pPr>
            <a:r>
              <a:rPr lang="ko-KR" altLang="en-US" sz="1900" b="1" dirty="0">
                <a:solidFill>
                  <a:schemeClr val="bg1"/>
                </a:solidFill>
              </a:rPr>
              <a:t>FOMO를 느끼지 않아도 좋다</a:t>
            </a:r>
            <a:endParaRPr lang="ko-KR" alt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513064" y="3703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115000"/>
              </a:lnSpc>
              <a:buNone/>
            </a:pPr>
            <a:r>
              <a:rPr lang="ko-KR" altLang="en-US" sz="1400" dirty="0">
                <a:solidFill>
                  <a:schemeClr val="accent6"/>
                </a:solidFill>
              </a:rPr>
              <a:t>세상은 바뀔 수 있지만, 그렇게 쉽게 바뀌지는 않습니다.</a:t>
            </a:r>
            <a:endParaRPr lang="ko-KR" alt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700" dirty="0">
                <a:solidFill>
                  <a:schemeClr val="accent6"/>
                </a:solidFill>
              </a:rPr>
              <a:t>일본 고향납세도 19년에 걸쳐 자랐습니다. 서두르지 말고, 내 일의 불편 하나부터.</a:t>
            </a:r>
            <a:endParaRPr lang="ko-KR" alt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3000" b="1" dirty="0">
                <a:solidFill>
                  <a:schemeClr val="accent3"/>
                </a:solidFill>
              </a:rPr>
              <a:t>감사합니다</a:t>
            </a:r>
            <a:endParaRPr lang="ko-KR" alt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pPr algn="r" eaLnBrk="0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tadong Walk Together">
  <a:themeElements>
    <a:clrScheme name="Ttadong Walk Together">
      <a:dk1>
        <a:srgbClr val="0F1B2D"/>
      </a:dk1>
      <a:lt1>
        <a:srgbClr val="FFFFFF"/>
      </a:lt1>
      <a:dk2>
        <a:srgbClr val="13294B"/>
      </a:dk2>
      <a:lt2>
        <a:srgbClr val="F1F4F8"/>
      </a:lt2>
      <a:accent1>
        <a:srgbClr val="1A7FC5"/>
      </a:accent1>
      <a:accent2>
        <a:srgbClr val="6FAE2E"/>
      </a:accent2>
      <a:accent3>
        <a:srgbClr val="F2A01B"/>
      </a:accent3>
      <a:accent4>
        <a:srgbClr val="E5484D"/>
      </a:accent4>
      <a:accent5>
        <a:srgbClr val="5B6B82"/>
      </a:accent5>
      <a:accent6>
        <a:srgbClr val="A9C2DD"/>
      </a:accent6>
      <a:hlink>
        <a:srgbClr val="1A7FC5"/>
      </a:hlink>
      <a:folHlink>
        <a:srgbClr val="5B6B8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1254</Words>
  <Application>Microsoft Office PowerPoint</Application>
  <PresentationFormat>와이드스크린</PresentationFormat>
  <Paragraphs>171</Paragraphs>
  <Slides>9</Slides>
  <Notes>9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Malgun Gothic</vt:lpstr>
      <vt:lpstr>Arial</vt:lpstr>
      <vt:lpstr>Ttadong Walk Together</vt:lpstr>
      <vt:lpstr>도구를 찾는 시대에서, 만들어 쓰는 시대로</vt:lpstr>
      <vt:lpstr>일본 고향납세를 키운 ‘장(場)’ — 후루사토 초이스</vt:lpstr>
      <vt:lpstr>같은 제도, 다른 속도 — 한국 4년차와 일본 19년차</vt:lpstr>
      <vt:lpstr>제도를 키운 건, 불편을 직접 푼 ‘도구’였습니다</vt:lpstr>
      <vt:lpstr>연수 준비물: PDF 11개, 단체방 1개, 그리고 11명</vt:lpstr>
      <vt:lpstr>그래서 만들었습니다 — 연수 전용 앱</vt:lpstr>
      <vt:lpstr>‘폰을 꺼내는 순간’에 맞춘 네 가지 화면</vt:lpstr>
      <vt:lpstr>결국 가장 많이 쓰인 건 ‘시간표’였습니다</vt:lpstr>
      <vt:lpstr>이제는 도구를 ‘만들어 쓰는’ 시대입니다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도구를 만들어 쓰는 시대 — 일본 해외연수 결과 공유</dc:title>
  <dc:subject>PptxGenJS Presentation</dc:subject>
  <dc:creator>주찬희</dc:creator>
  <cp:lastModifiedBy>주 찬희</cp:lastModifiedBy>
  <cp:revision>2</cp:revision>
  <dcterms:created xsi:type="dcterms:W3CDTF">2026-10-11T15:09:04Z</dcterms:created>
  <dcterms:modified xsi:type="dcterms:W3CDTF">2026-10-11T15:09:07Z</dcterms:modified>
</cp:coreProperties>
</file>